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043"/>
        </a:solidFill>
        <a:effectLst/>
      </p:bgPr>
    </p:bg>
    <p:spTree>
      <p:nvGrpSpPr>
        <p:cNvPr id="1" name=""/>
        <p:cNvGrpSpPr/>
        <p:nvPr/>
      </p:nvGrpSpPr>
      <p:grpSpPr/>
      <p:sp>
        <p:nvSpPr>
          <p:cNvPr id="2" name="TextBox 1"/>
          <p:cNvSpPr txBox="1"/>
          <p:nvPr/>
        </p:nvSpPr>
        <p:spPr>
          <a:xfrm>
            <a:off x="914400" y="2011680"/>
            <a:ext cx="10362895" cy="2743200"/>
          </a:xfrm>
          <a:prstGeom prst="rect">
            <a:avLst/>
          </a:prstGeom>
          <a:noFill/>
        </p:spPr>
        <p:txBody>
          <a:bodyPr wrap="square">
            <a:spAutoFit/>
          </a:bodyPr>
          <a:lstStyle/>
          <a:p>
            <a:pPr>
              <a:defRPr b="1" sz="2200">
                <a:solidFill>
                  <a:srgbClr val="0EA5E9"/>
                </a:solidFill>
                <a:latin typeface="Arial"/>
              </a:defRPr>
            </a:pPr>
            <a:r>
              <a:t>DATALYZE AI</a:t>
            </a:r>
          </a:p>
          <a:p>
            <a:pPr>
              <a:spcAft>
                <a:spcPts val="2000"/>
              </a:spcAft>
              <a:defRPr b="1" sz="3600">
                <a:solidFill>
                  <a:srgbClr val="FFFFFF"/>
                </a:solidFill>
                <a:latin typeface="Arial"/>
              </a:defRPr>
            </a:pPr>
            <a:r>
              <a:t>ATHARVA PERFORMANCE PACK</a:t>
            </a:r>
          </a:p>
          <a:p>
            <a:pPr>
              <a:defRPr sz="1400">
                <a:solidFill>
                  <a:srgbClr val="94A3B8"/>
                </a:solidFill>
                <a:latin typeface="Arial"/>
              </a:defRPr>
            </a:pPr>
            <a:r>
              <a:t>Automated Executive Presentation  •  Compiled on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914400"/>
          </a:xfrm>
          <a:prstGeom prst="rect">
            <a:avLst/>
          </a:prstGeom>
          <a:noFill/>
        </p:spPr>
        <p:txBody>
          <a:bodyPr wrap="none">
            <a:spAutoFit/>
          </a:bodyPr>
          <a:lstStyle/>
          <a:p>
            <a:pPr>
              <a:defRPr b="1" sz="2400">
                <a:solidFill>
                  <a:srgbClr val="0F2043"/>
                </a:solidFill>
                <a:latin typeface="Arial"/>
              </a:defRPr>
            </a:pPr>
            <a:r>
              <a:t>DATA HEALTH &amp; INGESTION PROFILE</a:t>
            </a:r>
          </a:p>
        </p:txBody>
      </p:sp>
      <p:sp>
        <p:nvSpPr>
          <p:cNvPr id="3" name="TextBox 2"/>
          <p:cNvSpPr txBox="1"/>
          <p:nvPr/>
        </p:nvSpPr>
        <p:spPr>
          <a:xfrm>
            <a:off x="685800" y="1645920"/>
            <a:ext cx="4572000" cy="4114800"/>
          </a:xfrm>
          <a:prstGeom prst="rect">
            <a:avLst/>
          </a:prstGeom>
          <a:noFill/>
        </p:spPr>
        <p:txBody>
          <a:bodyPr wrap="square">
            <a:spAutoFit/>
          </a:bodyPr>
          <a:lstStyle/>
          <a:p>
            <a:pPr>
              <a:spcAft>
                <a:spcPts val="1200"/>
              </a:spcAft>
              <a:defRPr b="1" sz="1800">
                <a:solidFill>
                  <a:srgbClr val="0EA5E9"/>
                </a:solidFill>
              </a:defRPr>
            </a:pPr>
            <a:r>
              <a:t>Dataset Ingestion Diagnostics</a:t>
            </a:r>
          </a:p>
          <a:p>
            <a:pPr>
              <a:spcAft>
                <a:spcPts val="800"/>
              </a:spcAft>
              <a:defRPr sz="1400">
                <a:solidFill>
                  <a:srgbClr val="475569"/>
                </a:solidFill>
              </a:defRPr>
            </a:pPr>
            <a:r>
              <a:t>• Health Index Score: 100.0/100</a:t>
            </a:r>
          </a:p>
          <a:p>
            <a:pPr>
              <a:spcAft>
                <a:spcPts val="800"/>
              </a:spcAft>
              <a:defRPr sz="1400">
                <a:solidFill>
                  <a:srgbClr val="475569"/>
                </a:solidFill>
              </a:defRPr>
            </a:pPr>
            <a:r>
              <a:t>• Total Dataset Rows: 23</a:t>
            </a:r>
          </a:p>
          <a:p>
            <a:pPr>
              <a:spcAft>
                <a:spcPts val="800"/>
              </a:spcAft>
              <a:defRPr sz="1400">
                <a:solidFill>
                  <a:srgbClr val="475569"/>
                </a:solidFill>
              </a:defRPr>
            </a:pPr>
            <a:r>
              <a:t>• Total Data Columns: 5</a:t>
            </a:r>
          </a:p>
          <a:p>
            <a:pPr>
              <a:spcAft>
                <a:spcPts val="800"/>
              </a:spcAft>
              <a:defRPr sz="1400">
                <a:solidFill>
                  <a:srgbClr val="475569"/>
                </a:solidFill>
              </a:defRPr>
            </a:pPr>
            <a:r>
              <a:t>• Missing Data Cells: 0 (0.0%)</a:t>
            </a:r>
          </a:p>
          <a:p>
            <a:pPr>
              <a:spcAft>
                <a:spcPts val="800"/>
              </a:spcAft>
              <a:defRPr sz="1400">
                <a:solidFill>
                  <a:srgbClr val="475569"/>
                </a:solidFill>
              </a:defRPr>
            </a:pPr>
            <a:r>
              <a:t>• Duplicate Row Count: 0 (0.0%)</a:t>
            </a:r>
          </a:p>
        </p:txBody>
      </p:sp>
      <p:sp>
        <p:nvSpPr>
          <p:cNvPr id="4" name="TextBox 3"/>
          <p:cNvSpPr txBox="1"/>
          <p:nvPr/>
        </p:nvSpPr>
        <p:spPr>
          <a:xfrm>
            <a:off x="5715000" y="1645920"/>
            <a:ext cx="5715000" cy="4114800"/>
          </a:xfrm>
          <a:prstGeom prst="rect">
            <a:avLst/>
          </a:prstGeom>
          <a:noFill/>
        </p:spPr>
        <p:txBody>
          <a:bodyPr wrap="square">
            <a:spAutoFit/>
          </a:bodyPr>
          <a:lstStyle/>
          <a:p>
            <a:pPr>
              <a:spcAft>
                <a:spcPts val="1200"/>
              </a:spcAft>
              <a:defRPr b="1" sz="1800">
                <a:solidFill>
                  <a:srgbClr val="0F2043"/>
                </a:solidFill>
              </a:defRPr>
            </a:pPr>
            <a:r>
              <a:t>AI Data Doctor Ingest Recommendations</a:t>
            </a:r>
          </a:p>
          <a:p>
            <a:pPr>
              <a:spcAft>
                <a:spcPts val="1000"/>
              </a:spcAft>
              <a:defRPr sz="1400">
                <a:solidFill>
                  <a:srgbClr val="475569"/>
                </a:solidFill>
              </a:defRPr>
            </a:pPr>
            <a:r>
              <a:t>🤖 No actions required for dataset validation.</a:t>
            </a:r>
          </a:p>
          <a:p>
            <a:pPr>
              <a:spcAft>
                <a:spcPts val="1000"/>
              </a:spcAft>
              <a:defRPr sz="1400">
                <a:solidFill>
                  <a:srgbClr val="475569"/>
                </a:solidFill>
              </a:defRPr>
            </a:pPr>
            <a:r>
              <a:t>🤖 Dataset is in perfect health.</a:t>
            </a:r>
          </a:p>
          <a:p>
            <a:pPr>
              <a:spcAft>
                <a:spcPts val="1000"/>
              </a:spcAft>
              <a:defRPr sz="1400">
                <a:solidFill>
                  <a:srgbClr val="475569"/>
                </a:solidFill>
              </a:defRPr>
            </a:pPr>
            <a:r>
              <a:t>🤖 No corrections needed.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914400"/>
          </a:xfrm>
          <a:prstGeom prst="rect">
            <a:avLst/>
          </a:prstGeom>
          <a:noFill/>
        </p:spPr>
        <p:txBody>
          <a:bodyPr wrap="none">
            <a:spAutoFit/>
          </a:bodyPr>
          <a:lstStyle/>
          <a:p>
            <a:pPr>
              <a:defRPr b="1" sz="2400">
                <a:solidFill>
                  <a:srgbClr val="0F2043"/>
                </a:solidFill>
                <a:latin typeface="Arial"/>
              </a:defRPr>
            </a:pPr>
            <a:r>
              <a:t>WHAT-IF SIMULATION FORECAST PROJECTIONS</a:t>
            </a:r>
          </a:p>
        </p:txBody>
      </p:sp>
      <p:sp>
        <p:nvSpPr>
          <p:cNvPr id="3" name="TextBox 2"/>
          <p:cNvSpPr txBox="1"/>
          <p:nvPr/>
        </p:nvSpPr>
        <p:spPr>
          <a:xfrm>
            <a:off x="685800" y="1645920"/>
            <a:ext cx="4572000" cy="4114800"/>
          </a:xfrm>
          <a:prstGeom prst="rect">
            <a:avLst/>
          </a:prstGeom>
          <a:noFill/>
        </p:spPr>
        <p:txBody>
          <a:bodyPr wrap="square">
            <a:spAutoFit/>
          </a:bodyPr>
          <a:lstStyle/>
          <a:p>
            <a:pPr>
              <a:spcAft>
                <a:spcPts val="1200"/>
              </a:spcAft>
              <a:defRPr b="1" sz="1800">
                <a:solidFill>
                  <a:srgbClr val="0EA5E9"/>
                </a:solidFill>
              </a:defRPr>
            </a:pPr>
            <a:r>
              <a:t>Revenue Projection Model</a:t>
            </a:r>
          </a:p>
          <a:p>
            <a:pPr>
              <a:spcAft>
                <a:spcPts val="1400"/>
              </a:spcAft>
              <a:defRPr sz="1400">
                <a:solidFill>
                  <a:srgbClr val="475569"/>
                </a:solidFill>
              </a:defRPr>
            </a:pPr>
            <a:r>
              <a:t>Here's a 2-sentence executive summary:</a:t>
            </a:r>
            <a:br/>
            <a:br/>
            <a:r>
              <a:t>"Run-time forecasting trend simulation enables organizations to optimize revenue growth by accurately predicting and adapting to changing market conditions, customer behavior, and competitor activity, ultimately driving increased revenue and market share. By leveraging growth and churn optimization, companies can make data-driven decisions to allocate resources effectively, mitigate risk, and capitalize on new opportunities, resulting in sustained revenue growth and improved profitability."</a:t>
            </a:r>
          </a:p>
        </p:txBody>
      </p:sp>
      <p:pic>
        <p:nvPicPr>
          <p:cNvPr id="4" name="Picture 3" descr="chart_sim_2_d83a90.png"/>
          <p:cNvPicPr>
            <a:picLocks noChangeAspect="1"/>
          </p:cNvPicPr>
          <p:nvPr/>
        </p:nvPicPr>
        <p:blipFill>
          <a:blip r:embed="rId2"/>
          <a:stretch>
            <a:fillRect/>
          </a:stretch>
        </p:blipFill>
        <p:spPr>
          <a:xfrm>
            <a:off x="5943600" y="1645920"/>
            <a:ext cx="5486400" cy="36576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789920" cy="914400"/>
          </a:xfrm>
          <a:prstGeom prst="rect">
            <a:avLst/>
          </a:prstGeom>
          <a:noFill/>
        </p:spPr>
        <p:txBody>
          <a:bodyPr wrap="none">
            <a:spAutoFit/>
          </a:bodyPr>
          <a:lstStyle/>
          <a:p>
            <a:pPr>
              <a:defRPr b="1" sz="2400">
                <a:solidFill>
                  <a:srgbClr val="0F2043"/>
                </a:solidFill>
                <a:latin typeface="Arial"/>
              </a:defRPr>
            </a:pPr>
            <a:r>
              <a:t>CUSTOMER COHORTS &amp; MARKET SEGMENTS</a:t>
            </a:r>
          </a:p>
        </p:txBody>
      </p:sp>
      <p:sp>
        <p:nvSpPr>
          <p:cNvPr id="3" name="TextBox 2"/>
          <p:cNvSpPr txBox="1"/>
          <p:nvPr/>
        </p:nvSpPr>
        <p:spPr>
          <a:xfrm>
            <a:off x="685800" y="1645920"/>
            <a:ext cx="4572000" cy="4114800"/>
          </a:xfrm>
          <a:prstGeom prst="rect">
            <a:avLst/>
          </a:prstGeom>
          <a:noFill/>
        </p:spPr>
        <p:txBody>
          <a:bodyPr wrap="square">
            <a:spAutoFit/>
          </a:bodyPr>
          <a:lstStyle/>
          <a:p>
            <a:pPr>
              <a:spcAft>
                <a:spcPts val="1200"/>
              </a:spcAft>
              <a:defRPr b="1" sz="1800">
                <a:solidFill>
                  <a:srgbClr val="0EA5E9"/>
                </a:solidFill>
              </a:defRPr>
            </a:pPr>
            <a:r>
              <a:t>Segmentation Insights</a:t>
            </a:r>
          </a:p>
          <a:p>
            <a:pPr>
              <a:spcAft>
                <a:spcPts val="1200"/>
              </a:spcAft>
              <a:defRPr sz="1400">
                <a:solidFill>
                  <a:srgbClr val="475569"/>
                </a:solidFill>
              </a:defRPr>
            </a:pPr>
            <a:r>
              <a:t>Visual clustering helps executive teams identify distinct customer groups, enabling targeted product campaigns that resonate with specific cohorts and drive business growth. By visualizing customer behavior, teams can develop tailored strategies to engage and retain high-value customers.</a:t>
            </a:r>
          </a:p>
        </p:txBody>
      </p:sp>
      <p:pic>
        <p:nvPicPr>
          <p:cNvPr id="4" name="Picture 3" descr="chart_seg_2_c73d1d.png"/>
          <p:cNvPicPr>
            <a:picLocks noChangeAspect="1"/>
          </p:cNvPicPr>
          <p:nvPr/>
        </p:nvPicPr>
        <p:blipFill>
          <a:blip r:embed="rId2"/>
          <a:stretch>
            <a:fillRect/>
          </a:stretch>
        </p:blipFill>
        <p:spPr>
          <a:xfrm>
            <a:off x="5943600" y="1645920"/>
            <a:ext cx="5486400" cy="3657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